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つかみ。最初に一号局を盤で実際に並べる（または投影して解いて見せる）。</a:t>
            </a:r>
          </a:p>
          <a:p>
            <a:r>
              <a:t>「将棋の駒を一組すべて盤に載せた煙詰です。協力詰では、これが世界で最初の一局＝一号局です。」</a:t>
            </a:r>
          </a:p>
          <a:p>
            <a:r>
              <a:t>ここで40枚が煙のように消え、最後は玉＋1枚で詰む様子を1手ずつ見せると一番つかめる。</a:t>
            </a:r>
          </a:p>
          <a:p>
            <a:r>
              <a:t>講演全体は約30〜40分。技術自慢ではなく『手では届かない場所を見にいった話』として語る。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ここが講演で最も大事な前置き。AI創作への懸念に一言も触れずに、構図そのものを無効化する。</a:t>
            </a:r>
          </a:p>
          <a:p>
            <a:r>
              <a:t>語り口の例：</a:t>
            </a:r>
          </a:p>
          <a:p>
            <a:r>
              <a:t>「私はもともと、手で協力詰を作ってきた人間です。たとえばこれは単玉の最長手数を更新した</a:t>
            </a:r>
          </a:p>
          <a:p>
            <a:r>
              <a:t>『ミトコンドリア』、3933手。一手ずつ手で配置を探した作品です（詰パラ6月号で発表）。</a:t>
            </a:r>
          </a:p>
          <a:p>
            <a:r>
              <a:t>── きょうお話しするのは、その私が、手では決して届かない場所を見にいくために作った道具の話です。」</a:t>
            </a:r>
          </a:p>
          <a:p/>
          <a:p>
            <a:r>
              <a:t>ポイント：</a:t>
            </a:r>
          </a:p>
          <a:p>
            <a:r>
              <a:t>- 自分が分野の内部の作家であることを、事実として淡々と置くだけでよい。防御も自己弁護もしない。</a:t>
            </a:r>
          </a:p>
          <a:p>
            <a:r>
              <a:t>- 「機械で分野を侵略した」という見方は、この実作実績の前では成立しない。論じる必要すらない。</a:t>
            </a:r>
          </a:p>
          <a:p>
            <a:r>
              <a:t>- ミトコンドリア1本に絞るか、チェインも併用するかは好み。1本に絞ると入りがシャープ。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全駒煙の定義と、40が天井であることを明確に。</a:t>
            </a:r>
          </a:p>
          <a:p>
            <a:r>
              <a:t>- 40 = 一組全部・持駒ゼロ。これより多い初形は物理的に存在しない。</a:t>
            </a:r>
          </a:p>
          <a:p>
            <a:r>
              <a:t>- ここで『極限・記録の探索』という性格づけを与えておく。これが後段でAI懸念をかわす伏線になる</a:t>
            </a:r>
          </a:p>
          <a:p>
            <a:r>
              <a:t>  （恣意的に作品を量産したのではなく、唯一の極限が在るかを確かめた、という枠組み）。</a:t>
            </a:r>
          </a:p>
          <a:p>
            <a:r>
              <a:t>- 残る問いは「40を何手で、何通り作れるか」だけになる、と次章以降へ橋渡し。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もう一方の発表（広瀬・馬屋原両氏の正調煙詰自動生成）と自然に並置し、共同出題の伏線を張る。</a:t>
            </a:r>
          </a:p>
          <a:p>
            <a:r>
              <a:t>技術的な核心を一枚で：</a:t>
            </a:r>
          </a:p>
          <a:p>
            <a:r>
              <a:t>- 協力詰は双方が協力するので、通常詰将棋の『攻める側 vs 逃げる側』という対立（min/max）が無い。</a:t>
            </a:r>
          </a:p>
          <a:p>
            <a:r>
              <a:t>- そのため、通常詰将棋ソルバの主力である証明数探索（df-pn）がそのままでは使えない。</a:t>
            </a:r>
          </a:p>
          <a:p>
            <a:r>
              <a:t>- だから「別の技術」が必要になる、という必然性をここで示す（次章の動機づけ）。</a:t>
            </a:r>
          </a:p>
          <a:p>
            <a:r>
              <a:t>深入りは禁物。この一枚で言い切って次へ。</a:t>
            </a:r>
          </a:p>
          <a:p>
            <a:r>
              <a:t>責任者メッセージ『ルールの垣根を越え、変革期にいる』にここで触れてもよい。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ここが『機械が力ずくで塗りつぶした』という像を崩す最重要スライド。</a:t>
            </a:r>
          </a:p>
          <a:p>
            <a:r>
              <a:t>- 全駒煙の探索空間は天文学的（10^10〜11）。厳密全幅は大規模マシンでも破綻する。</a:t>
            </a:r>
          </a:p>
          <a:p>
            <a:r>
              <a:t>- 中核メッセージ：『これは速度の問題ではなく、どの局面を残すか＝探索の勘どころの問題』。</a:t>
            </a:r>
          </a:p>
          <a:p>
            <a:r>
              <a:t>- だから、力任せでは解けない。人間（作家）の“行けそう／行けなさそう”という嗅覚を機械に</a:t>
            </a:r>
          </a:p>
          <a:p>
            <a:r>
              <a:t>  移植して初めて届いた。── この物語の起点をここで宣言する。</a:t>
            </a:r>
          </a:p>
          <a:p>
            <a:r>
              <a:t>右の図：上に向かって指数的に広がる空間（影）と、その中の薄い金色の帯（beamが残す有望帯）。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技術ハイライトの第1の山。図解スライド。</a:t>
            </a:r>
          </a:p>
          <a:p>
            <a:r>
              <a:t>- 全2618解を mate（詰み）から逆にたどって距離ごとに数えると、ほとんどの距離で局面は『1個』しかない。</a:t>
            </a:r>
          </a:p>
          <a:p>
            <a:r>
              <a:t>  ＝ 全解が完全に一致する長い一本道（背骨／forced spine）。</a:t>
            </a:r>
          </a:p>
          <a:p>
            <a:r>
              <a:t>- 根（初形）に近い側でだけ枝分かれする（冠／crown）。例：根で2618に開くが、その手前は数百〜数個。</a:t>
            </a:r>
          </a:p>
          <a:p>
            <a:r>
              <a:t>- 全解が必ず通る最深の1点＝合流点（gateway）。ここを見つけたことが、探索を集中させる鍵になった。</a:t>
            </a:r>
          </a:p>
          <a:p>
            <a:r>
              <a:t>聴衆へのメッセージ：『40枚の多様性は、必然の一本道に乗った浅い冠にすぎない。だから探索は闇雲ではなく、</a:t>
            </a:r>
          </a:p>
          <a:p>
            <a:r>
              <a:t>構造に導かれて行える』。数値（d104→136, 根→2618 等）は口頭で軽く添える程度でよい。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技術ハイライトの第2の山。4章の物語（嗅覚の移植）をここで回収する。</a:t>
            </a:r>
          </a:p>
          <a:p>
            <a:r>
              <a:t>- 作家が盤を見て感じる『この形は行けそう／だめそう』を、約85個の数値（特徴量）にした。</a:t>
            </a:r>
          </a:p>
          <a:p>
            <a:r>
              <a:t>  例：玉の自由度・安全な逃げ場の数・逃走の深さ、駒の散らばり方、成駒の量や位置 など。</a:t>
            </a:r>
          </a:p>
          <a:p>
            <a:r>
              <a:t>- 機械学習モデルがそれらから各局面のスコアを出し、ビームサーチが上位の薄い帯だけを残して深部へ進む。</a:t>
            </a:r>
          </a:p>
          <a:p>
            <a:r>
              <a:t>- ここで明言：『機械は人間の嗅覚の代替ではなく延長である』。AI懸念への返答を、技術の語り口に溶かす。</a:t>
            </a:r>
          </a:p>
          <a:p>
            <a:r>
              <a:t>専門的になりすぎないよう、特徴量は2〜3例だけ口頭で挙げる。モデルの内部（GBDT等）は名前だけでよい。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作家・解答者の信頼に直結するので必ず置く。</a:t>
            </a:r>
          </a:p>
          <a:p>
            <a:r>
              <a:t>- ビームサーチは『探索範囲を絞る近似』だが、見つけた一つ一つの局面は、解が一意（協力手順が</a:t>
            </a:r>
          </a:p>
          <a:p>
            <a:r>
              <a:t>  ちょうど一本）であることをソルバで厳密に検証している。だから本物。</a:t>
            </a:r>
          </a:p>
          <a:p>
            <a:r>
              <a:t>- 留保も正直に：113手・2618局という“数”は近似探索が到達した範囲であり、『これが全ての40枚』</a:t>
            </a:r>
          </a:p>
          <a:p>
            <a:r>
              <a:t>  『113手が真の最長』とまでは厳密証明していない。論文や発表で網羅性を主張しない。</a:t>
            </a:r>
          </a:p>
          <a:p>
            <a:r>
              <a:t>  （聴衆が研究者寄りなら一言添えると誠実。一般寄りなら口頭で軽く。）</a:t>
            </a:r>
          </a:p>
          <a:p>
            <a:r>
              <a:t>- 計算規模は1行で。自慢にしない。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ここは『山にはしない』が、一度だけ静かに置く重要な一枚。AI創作論への返答を独立章にせず、ここに溶かす。</a:t>
            </a:r>
          </a:p>
          <a:p>
            <a:r>
              <a:t>- 機械は113手・2618局を出した。すべて一意で全駒盤上。</a:t>
            </a:r>
          </a:p>
          <a:p>
            <a:r>
              <a:t>- だが『どれを見せるか』は機械には決められない。成駒の少なさ・玉への密集度などの“美の物差し”は</a:t>
            </a:r>
          </a:p>
          <a:p>
            <a:r>
              <a:t>  人間が与えた。上位を選び、最後は作家が角を1マス寄せて手で仕上げ、より整った最終形にした。</a:t>
            </a:r>
          </a:p>
          <a:p>
            <a:r>
              <a:t>- メッセージ：『機械が候補を出し、選び・整えるのは人間。何を美しいと感じるかは、まだ人間の仕事』。</a:t>
            </a:r>
          </a:p>
          <a:p>
            <a:r>
              <a:t>  ここで一度だけ、静かに言って次へ。力まない。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開いた終わり方。変革期の前夜祭にふさわしく。</a:t>
            </a:r>
          </a:p>
          <a:p>
            <a:r>
              <a:t>- 二つの発表（正調煙詰の自動生成／協力詰の全駒煙）が、ルールを越えて出会った、という構図を示す。</a:t>
            </a:r>
          </a:p>
          <a:p>
            <a:r>
              <a:t>- 共同出題が確定なら、ここをクライマックスにできる（具体的な出題内容に触れる）。</a:t>
            </a:r>
          </a:p>
          <a:p>
            <a:r>
              <a:t>- 最後の一言は、得たもの（届かなかった場所への到達）と、人間に残るもの（美の判断）を並べて締める。</a:t>
            </a:r>
          </a:p>
          <a:p>
            <a:r>
              <a:t>  断定ではなく『そうあってほしい』という願いの温度で。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結び。質疑への入り口。</a:t>
            </a:r>
          </a:p>
          <a:p>
            <a:r>
              <a:t>想定問答（準備しておくと安心）：</a:t>
            </a:r>
          </a:p>
          <a:p>
            <a:r>
              <a:t>- 「全部の40枚を見つけたのか？」→ いいえ。近似探索が到達した範囲。網羅は今後の課題（厳密計算が要る）。</a:t>
            </a:r>
          </a:p>
          <a:p>
            <a:r>
              <a:t>- 「これは創作か発見か？」→ 極限（40＝天井）の発見に近い。美の選択は人間が担っている。</a:t>
            </a:r>
          </a:p>
          <a:p>
            <a:r>
              <a:t>- 「手作りの作家として、機械を使うことに葛藤は？」→ 正直な自分の言葉で。私は手で作り続けてもいる、と。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4F0E8"/>
                </a:solidFill>
                <a:latin typeface="Meiryo"/>
              </a:rPr>
              <a:t>全駒煙 ― 協力詰、極限への到達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89B3C"/>
                </a:solidFill>
                <a:latin typeface="Meiryo"/>
              </a:rPr>
              <a:t>盤上40枚すべてが消えてゆく、ひとつの煙詰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8C2B8"/>
                </a:solidFill>
                <a:latin typeface="Meiryo"/>
              </a:rPr>
              <a:t>荻絵香木（ogiekako）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C8C2B8"/>
                </a:solidFill>
                <a:latin typeface="Meiryo"/>
              </a:rPr>
              <a:t>フェアリー全国大会 前夜祭 ／ 特別講演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5A88"/>
                </a:solidFill>
                <a:latin typeface="Meiryo"/>
              </a:rPr>
              <a:t>1 / 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私はもともと、手で協力詰を作ってきた人間です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長年、協力詰（helpmate）を手作業で創作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単玉協力詰の最長手数を手で大幅更新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「ミトコンドリア」3933手 ― 一手ずつ手で配置を探した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詰将棋パラダイス 2026年6月号「神無一族の氾濫」で発表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● 代表作のひとつ「チェイン」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── その私が、手では決して届かない場所を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　　 見にいくために作った道具の話を、きょうはします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937760" cy="4114800"/>
          </a:xfrm>
          <a:prstGeom prst="roundRect">
            <a:avLst/>
          </a:prstGeom>
          <a:solidFill>
            <a:srgbClr val="ECE6D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555"/>
                </a:solidFill>
                <a:latin typeface="Meiryo"/>
              </a:rPr>
              <a:t>［局面図を貼る］
単玉最長 3933手「ミトコンドリア」
G+p2GSGSG/1p2S1S1P/1l1L1N1N+R/
k1+P3PP1/+r1b3N2/3b4N/
1P6+p/2P6/3PPLL2 b P6p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03A2E"/>
                </a:solidFill>
                <a:latin typeface="Meiryo"/>
              </a:rPr>
              <a:t>2 / 全駒煙とは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なぜ「40枚」が究極なのか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煙詰：多数の駒が「煙のように」消え、玉＋1枚＝2枚で詰む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全駒煙：初形が将棋一組すべて＝盤上40枚・持駒ゼロ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王2 飛2 角2 金4 銀4 桂4 香4 歩18 ＝ 計40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41枚はあり得ない ＝ 理論上の最大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だからこれは「佳作の量産」ではない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03A2E"/>
                </a:solidFill>
                <a:latin typeface="Meiryo"/>
              </a:rPr>
              <a:t>– 唯一の極限を『在るのか／一意か』と問う話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03A2E"/>
                </a:solidFill>
                <a:latin typeface="Meiryo"/>
              </a:rPr>
              <a:t>– 性格としては作曲よりも“発見”に近い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828800"/>
            <a:ext cx="4389120" cy="4114800"/>
          </a:xfrm>
          <a:prstGeom prst="roundRect">
            <a:avLst/>
          </a:prstGeom>
          <a:solidFill>
            <a:srgbClr val="ECE6D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555"/>
                </a:solidFill>
                <a:latin typeface="Meiryo"/>
              </a:rPr>
              <a:t>［一号局の局面図を貼る］
40枚 → … → 玉＋1枚
「煙のように消える」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5A88"/>
                </a:solidFill>
                <a:latin typeface="Meiryo"/>
              </a:rPr>
              <a:t>3 / ルールの垣根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協力詰は、普通の詰将棋とは別の問題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今大会では、正調煙詰の自動生成（広瀬稔・馬屋原剛 両氏）も登場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本作は協力詰（helpmate）― 攻方・受方の双方が協力して詰みに向かう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探索木に AND/OR（攻防の min/max）構造が無い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→ 証明数探索（df-pn）は原理的に効かない ＝ 別系統の技術が要る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ルールが違えば、機械の作り方も全く違う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03A2E"/>
                </a:solidFill>
                <a:latin typeface="Meiryo"/>
              </a:rPr>
              <a:t>– 正調煙詰と協力詰、二つの道から同じ「煙」へ近づいている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03A2E"/>
                </a:solidFill>
                <a:latin typeface="Meiryo"/>
              </a:rPr>
              <a:t>4 / なぜ難しいか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力任せでは、手でも計算機でも届かない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40枚に至る局面の数は 10^10〜10^11 規模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厳密な全探索は、数百GB〜数TBでも途中で破綻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これは「速度」の問題ではない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「どの局面を残すか＝探索の勘どころ」の問題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全部は見られない。見るべき所を選ぶ必要がある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＝ 作家が盤面に対して持つ“嗅覚”を、機械に移すこと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5120640" cy="4023360"/>
          </a:xfrm>
          <a:prstGeom prst="rect">
            <a:avLst/>
          </a:prstGeom>
          <a:solidFill>
            <a:srgbClr val="FBF9F4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7040880" y="2286000"/>
            <a:ext cx="4206240" cy="2743200"/>
          </a:xfrm>
          <a:prstGeom prst="rtTriangle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4688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eiryo"/>
              </a:rPr>
              <a:t>全探索＝指数爆発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eiryo"/>
              </a:rPr>
              <a:t>（到達不能）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4617720"/>
            <a:ext cx="4206240" cy="20116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864608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3A2E"/>
                </a:solidFill>
                <a:latin typeface="Meiryo"/>
              </a:rPr>
              <a:t>← beam が残す薄い“有望帯”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3A2E"/>
                </a:solidFill>
                <a:latin typeface="Meiryo"/>
              </a:rPr>
              <a:t>（作家の嗅覚＝特徴量で選別）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Meiryo"/>
              </a:rPr>
              <a:t>深さ（駒が増える方向）→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5A88"/>
                </a:solidFill>
                <a:latin typeface="Meiryo"/>
              </a:rPr>
              <a:t>5 / 技術ハイライト①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解は「長い背骨＋浅い冠」という形をしている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737360"/>
            <a:ext cx="155448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9728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28800" y="1737360"/>
            <a:ext cx="91440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73736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23160" y="1737360"/>
            <a:ext cx="32004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3172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2743200" y="1737360"/>
            <a:ext cx="32004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7180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743200" y="1737360"/>
            <a:ext cx="91440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6616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2743200" y="1737360"/>
            <a:ext cx="1554480" cy="1280160"/>
          </a:xfrm>
          <a:prstGeom prst="bentConnector3">
            <a:avLst/>
          </a:prstGeom>
          <a:ln w="19050">
            <a:solidFill>
              <a:srgbClr val="2E5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06240" y="1645920"/>
            <a:ext cx="182880" cy="182880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E5A88"/>
                </a:solidFill>
                <a:latin typeface="Meiryo"/>
              </a:rPr>
              <a:t>初形（40枚）← 2618局がここで枝分かれ＝浅い「冠」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017520"/>
            <a:ext cx="2377440" cy="502920"/>
          </a:xfrm>
          <a:prstGeom prst="round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合流点（gateway）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3520440"/>
            <a:ext cx="0" cy="1874520"/>
          </a:xfrm>
          <a:prstGeom prst="bentConnector3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71800" y="38862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Meiryo"/>
              </a:rPr>
              <a:t>1本の forced spine（背骨）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Meiryo"/>
              </a:rPr>
              <a:t>全解が完全に一致する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Meiryo"/>
              </a:rPr>
              <a:t>長い一本道</a:t>
            </a:r>
          </a:p>
        </p:txBody>
      </p:sp>
      <p:sp>
        <p:nvSpPr>
          <p:cNvPr id="21" name="Oval 20"/>
          <p:cNvSpPr/>
          <p:nvPr/>
        </p:nvSpPr>
        <p:spPr>
          <a:xfrm>
            <a:off x="2331720" y="5394960"/>
            <a:ext cx="822960" cy="4114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Meiryo"/>
              </a:rPr>
              <a:t>詰み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92024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全2618解が必ず通る唯一の関門＝合流点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● 多様性は、長い必然の一本道の上に乗った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eiryo"/>
              </a:rPr>
              <a:t>● 　浅い“冠”にすぎない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→ 「どこを探せばいいか」は闇雲ではなく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　 この構造が教えてくれる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03A2E"/>
                </a:solidFill>
                <a:latin typeface="Meiryo"/>
              </a:rPr>
              <a:t>5 / 技術ハイライト②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作家の“直感”を、機械に教える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「行けそう／行けなさそう」という作家の感覚を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　約85個の数値（特徴量）に翻訳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玉の自由度・逃げ道、駒の散り具合、成駒の量 …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機械はそれを手がかりに、薄い“有望帯”だけを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　残しながら深部へ潜る（ビームサーチ）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機械は人間の嗅覚の“代替”ではなく“延長”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03A2E"/>
                </a:solidFill>
                <a:latin typeface="Meiryo"/>
              </a:rPr>
              <a:t>– 力任せの計算ではなく、移植された勘で進む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4206240" cy="4023360"/>
          </a:xfrm>
          <a:prstGeom prst="roundRect">
            <a:avLst/>
          </a:prstGeom>
          <a:solidFill>
            <a:srgbClr val="ECE6D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555"/>
                </a:solidFill>
                <a:latin typeface="Meiryo"/>
              </a:rPr>
              <a:t>［模式図：盤面 → 約85の特徴量 → スコア］
玉の自由度／逃走深さ
配置の広がり（dispersion）
成駒の量・位置 …
↓
有望な局面だけを残す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5A88"/>
                </a:solidFill>
                <a:latin typeface="Meiryo"/>
              </a:rPr>
              <a:t>5 / 技術ハイライト③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見つけた40枚は、すべて厳密に検証されている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ビームは「どこを探すか」を絞るだけ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見つけた各局面の一意性は、一つ残らず厳密に確認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解がちょうど一本道であることをソルバで検証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「それっぽいもの」ではなく、本物のユニーク協力詰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Meiryo"/>
              </a:rPr>
              <a:t>● 計算規模：数百コア・数TB級のマシンで数時間（クラウド）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── 探索は近似でも、作品の正しさは厳密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03A2E"/>
                </a:solidFill>
                <a:latin typeface="Meiryo"/>
              </a:rPr>
              <a:t>6 / 見つかったもの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そして、人の手が残る場所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113手・2618局 ― すべて一意・全駒盤上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発表用の「美しい一局」を選ぶ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成駒の少なさ、玉への密集度などで序列化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eiryo"/>
              </a:rPr>
              <a:t>– 上位を選び ― 最後に角を1マス寄せて手で仕上げた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機械が候補を出し、選び・整えるのは人間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B03A2E"/>
                </a:solidFill>
                <a:latin typeface="Meiryo"/>
              </a:rPr>
              <a:t>– 何を美しいと感じるかは、まだ人間の仕事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828800"/>
            <a:ext cx="4389120" cy="4114800"/>
          </a:xfrm>
          <a:prstGeom prst="roundRect">
            <a:avLst/>
          </a:prstGeom>
          <a:solidFill>
            <a:srgbClr val="ECE6D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555"/>
                </a:solidFill>
                <a:latin typeface="Meiryo"/>
              </a:rPr>
              <a:t>［発表用の最終形・局面図を貼る］
8G/6K1p/4S3+S/3Gp+PP+p+n/
2B+pPP1p1/3Bk+p+p1P/
1RRs+lgLN+P/2+PPNlNPG/
+P+pL4S1 b - 1
113手・一意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5A88"/>
                </a:solidFill>
                <a:latin typeface="Meiryo"/>
              </a:rPr>
              <a:t>7 / これから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eiryo"/>
              </a:rPr>
              <a:t>ルールを越えて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正調煙詰（自動生成）と協力詰、二つの道から同じ「煙」へ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Meiryo"/>
              </a:rPr>
              <a:t>● ルールの垣根を越えた共同出題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私たちは道具を得て、手では届かなかった場所に手が届いた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  <a:latin typeface="Meiryo"/>
              </a:rPr>
              <a:t>● そこで何を美しいと感じ、どれを選ぶかは ── まだ人間の仕事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0E8"/>
                </a:solidFill>
                <a:latin typeface="Meiryo"/>
              </a:rPr>
              <a:t>煙の果てに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89B3C"/>
                </a:solidFill>
                <a:latin typeface="Meiryo"/>
              </a:rPr>
              <a:t>手では届かない場所を見にいくための、ひとつの道具の話でした。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C89B3C"/>
                </a:solidFill>
                <a:latin typeface="Meiryo"/>
              </a:rPr>
              <a:t>ご清聴ありがとうございました。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